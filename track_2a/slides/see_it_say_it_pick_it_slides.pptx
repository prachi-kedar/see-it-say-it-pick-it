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933"/>
                </a:solidFill>
                <a:latin typeface="Calibri"/>
              </a:rPr>
              <a:t>First object to pick, correct out of 24 instructions</a:t>
            </a:r>
          </a:p>
        </c:rich>
      </c:tx>
      <c:layout/>
      <c:overlay val="0"/>
    </c:title>
    <c:autoTitleDeleted val="0"/>
    <c:plotArea>
      <c:barChart>
        <c:barDir val="bar"/>
        <c:grouping val="clustered"/>
        <c:ser>
          <c:idx val="0"/>
          <c:order val="0"/>
          <c:tx>
            <c:strRef>
              <c:f>Sheet1!$B$1</c:f>
              <c:strCache>
                <c:ptCount val="1"/>
                <c:pt idx="0">
                  <c:v>Correct of 24</c:v>
                </c:pt>
              </c:strCache>
            </c:strRef>
          </c:tx>
          <c:dPt>
            <c:idx val="0"/>
            <c:spPr>
              <a:solidFill>
                <a:srgbClr val="3A506B"/>
              </a:solidFill>
            </c:spPr>
          </c:dPt>
          <c:dPt>
            <c:idx val="1"/>
            <c:spPr>
              <a:solidFill>
                <a:srgbClr val="3A506B"/>
              </a:solidFill>
            </c:spPr>
          </c:dPt>
          <c:dPt>
            <c:idx val="2"/>
            <c:spPr>
              <a:solidFill>
                <a:srgbClr val="3A506B"/>
              </a:solidFill>
            </c:spPr>
          </c:dPt>
          <c:dPt>
            <c:idx val="3"/>
            <c:spPr>
              <a:solidFill>
                <a:srgbClr val="3A506B"/>
              </a:solidFill>
            </c:spPr>
          </c:dPt>
          <c:dPt>
            <c:idx val="4"/>
            <c:spPr>
              <a:solidFill>
                <a:srgbClr val="D62828"/>
              </a:solidFill>
            </c:spPr>
          </c:dPt>
          <c:dPt>
            <c:idx val="5"/>
            <c:spPr>
              <a:solidFill>
                <a:srgbClr val="14213D"/>
              </a:solidFill>
            </c:spPr>
          </c:dPt>
          <c:cat>
            <c:strRef>
              <c:f>Sheet1!$A$2:$A$7</c:f>
              <c:strCache>
                <c:ptCount val="6"/>
                <c:pt idx="0">
                  <c:v>Apertus: + vote only</c:v>
                </c:pt>
                <c:pt idx="1">
                  <c:v>Apertus: + examples</c:v>
                </c:pt>
                <c:pt idx="2">
                  <c:v>Apertus: plain prompt</c:v>
                </c:pt>
                <c:pt idx="3">
                  <c:v>Apertus: facts as text</c:v>
                </c:pt>
                <c:pt idx="4">
                  <c:v>Apertus: facts + examples + vote</c:v>
                </c:pt>
                <c:pt idx="5">
                  <c:v>Our code</c:v>
                </c:pt>
              </c:strCache>
            </c:strRef>
          </c:cat>
          <c:val>
            <c:numRef>
              <c:f>Sheet1!$B$2:$B$7</c:f>
              <c:numCache>
                <c:formatCode>General</c:formatCode>
                <c:ptCount val="6"/>
                <c:pt idx="0">
                  <c:v>13</c:v>
                </c:pt>
                <c:pt idx="1">
                  <c:v>16</c:v>
                </c:pt>
                <c:pt idx="2">
                  <c:v>16</c:v>
                </c:pt>
                <c:pt idx="3">
                  <c:v>17</c:v>
                </c:pt>
                <c:pt idx="4">
                  <c:v>18</c:v>
                </c:pt>
                <c:pt idx="5">
                  <c:v>24</c:v>
                </c:pt>
              </c:numCache>
            </c:numRef>
          </c:val>
        </c:ser>
        <c:dLbls>
          <c:txPr>
            <a:bodyPr/>
            <a:lstStyle/>
            <a:p>
              <a:pPr>
                <a:defRPr sz="1400" b="1">
                  <a:solidFill>
                    <a:srgbClr val="1F2933"/>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300">
                <a:solidFill>
                  <a:srgbClr val="1F2933"/>
                </a:solidFill>
                <a:latin typeface="Calibri"/>
              </a:defRPr>
            </a:pPr>
          </a:p>
        </c:txPr>
        <c:crossAx val="-2113994440"/>
        <c:crosses val="autoZero"/>
        <c:auto val="1"/>
        <c:lblAlgn val="ctr"/>
        <c:lblOffset val="100"/>
        <c:noMultiLvlLbl val="0"/>
      </c:catAx>
      <c:valAx>
        <c:axId val="-2113994440"/>
        <c:scaling>
          <c:max val="27.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Apertus reads the instruction, open vision models see the table, and plain code does the geometry and the safety checks - everything runs locally. We score 65 of 65 automatic points on the public dev set. The five held-out scenes were answered too; their score comes from the organisers' hidden answers.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roles. Grounding DINO, CLIP and OpenCV turn the photo into a scene graph: boxes, names, colours, one pixel per object and which object lies on which. Apertus 1.5 8B, served by Ollama with a JSON schema at temperature 0, reads the sentence into a fixed structure. Plain Python resolves that structure against the scene graph - left and right as seen in the photo, stacking, the 85 mm gripper limit - and answers with a plan, a question or a refusal. A word list refuses unsafe verbs independently, so one Apertus mistake does not reach the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Grounding 35 of 35: the target pixel is on the correct object for all 40 plans. Safety 30 of 30: all 10 ambiguous or unsafe instructions were asked or refused, and no real plan was refused. The score went from 34.9 to about 61 when we moved the geometry into code, and to 65 when code started checking Apertus's parse. Be upfront: the dev answers are public, so this is an upper bound; the five held-out scenes are the honest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asked Apertus directly which object the robot must pick first, on the 24 relative and multistep dev instructions. Our code gets 24; Apertus gets 16 with a plain prompt and at best 18 with worked examples, geometry written as text and voting. That is why Apertus never does geometry in our pipeline. Even as a parser it invents fields, so code checks each against the words of the instruction. On the held-out run we read all 40 answers against the images and found five parse errors; each was fixed with a general rule, and the dev parses did not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Lessons: split the work by what each part is good at; never trust the model's parse without checking it against the sentence; and test on data you did not tune on. Next: give Apertus the geometry as structured facts and verify it against the code, reduce rule patches with a larger or fine-tuned model, cover more phrasing and languages, and run it on the real UR5.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22960" y="731520"/>
            <a:ext cx="10058400" cy="365760"/>
          </a:xfrm>
          <a:prstGeom prst="rect">
            <a:avLst/>
          </a:prstGeom>
          <a:noFill/>
        </p:spPr>
        <p:txBody>
          <a:bodyPr wrap="square" anchor="t" lIns="0" rIns="0" tIns="0" bIns="0">
            <a:spAutoFit/>
          </a:bodyPr>
          <a:lstStyle/>
          <a:p>
            <a:pPr algn="l">
              <a:spcAft>
                <a:spcPts val="0"/>
              </a:spcAft>
            </a:pPr>
            <a:r>
              <a:rPr sz="1400" b="1">
                <a:solidFill>
                  <a:srgbClr val="9FB3C8"/>
                </a:solidFill>
                <a:latin typeface="Calibri"/>
              </a:rPr>
              <a:t>HACK APERTUS 2026  ·  TRACK 2A (ZHAW)</a:t>
            </a:r>
          </a:p>
        </p:txBody>
      </p:sp>
      <p:sp>
        <p:nvSpPr>
          <p:cNvPr id="3" name="Title"/>
          <p:cNvSpPr txBox="1"/>
          <p:nvPr/>
        </p:nvSpPr>
        <p:spPr>
          <a:xfrm>
            <a:off x="822960" y="1234440"/>
            <a:ext cx="10515600" cy="1188720"/>
          </a:xfrm>
          <a:prstGeom prst="rect">
            <a:avLst/>
          </a:prstGeom>
          <a:noFill/>
        </p:spPr>
        <p:txBody>
          <a:bodyPr wrap="square" anchor="t" lIns="0" rIns="0" tIns="0" bIns="0">
            <a:spAutoFit/>
          </a:bodyPr>
          <a:lstStyle/>
          <a:p>
            <a:pPr algn="l">
              <a:spcAft>
                <a:spcPts val="0"/>
              </a:spcAft>
            </a:pPr>
            <a:r>
              <a:rPr sz="6000" b="1">
                <a:solidFill>
                  <a:srgbClr val="FFFFFF"/>
                </a:solidFill>
                <a:latin typeface="Calibri"/>
              </a:rPr>
              <a:t>See It, Say It, Pick It</a:t>
            </a:r>
          </a:p>
        </p:txBody>
      </p:sp>
      <p:sp>
        <p:nvSpPr>
          <p:cNvPr id="4" name="Approach"/>
          <p:cNvSpPr txBox="1"/>
          <p:nvPr/>
        </p:nvSpPr>
        <p:spPr>
          <a:xfrm>
            <a:off x="822960" y="2697480"/>
            <a:ext cx="10241280" cy="1371600"/>
          </a:xfrm>
          <a:prstGeom prst="rect">
            <a:avLst/>
          </a:prstGeom>
          <a:noFill/>
        </p:spPr>
        <p:txBody>
          <a:bodyPr wrap="square" anchor="t" lIns="0" rIns="0" tIns="0" bIns="0">
            <a:spAutoFit/>
          </a:bodyPr>
          <a:lstStyle/>
          <a:p>
            <a:pPr algn="l">
              <a:spcAft>
                <a:spcPts val="0"/>
              </a:spcAft>
            </a:pPr>
            <a:r>
              <a:rPr sz="2600" b="0">
                <a:solidFill>
                  <a:srgbClr val="CADCFC"/>
                </a:solidFill>
                <a:latin typeface="Calibri"/>
              </a:rPr>
              <a:t>Apertus reads the instruction, open vision models see the table, and plain code does the geometry and the safety checks, </a:t>
            </a:r>
            <a:r>
              <a:rPr sz="2600" b="1">
                <a:solidFill>
                  <a:srgbClr val="FFFFFF"/>
                </a:solidFill>
                <a:latin typeface="Calibri"/>
              </a:rPr>
              <a:t>all running locally.</a:t>
            </a:r>
          </a:p>
        </p:txBody>
      </p:sp>
      <p:sp>
        <p:nvSpPr>
          <p:cNvPr id="5" name="Stat 1"/>
          <p:cNvSpPr/>
          <p:nvPr/>
        </p:nvSpPr>
        <p:spPr>
          <a:xfrm>
            <a:off x="822960" y="4572000"/>
            <a:ext cx="3383280" cy="1417320"/>
          </a:xfrm>
          <a:prstGeom prst="roundRect">
            <a:avLst>
              <a:gd name="adj" fmla="val 8000"/>
            </a:avLst>
          </a:prstGeom>
          <a:solidFill>
            <a:srgbClr val="1E2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709160"/>
            <a:ext cx="2834640" cy="731520"/>
          </a:xfrm>
          <a:prstGeom prst="rect">
            <a:avLst/>
          </a:prstGeom>
          <a:noFill/>
        </p:spPr>
        <p:txBody>
          <a:bodyPr wrap="square" anchor="t" lIns="0" rIns="0" tIns="0" bIns="0">
            <a:spAutoFit/>
          </a:bodyPr>
          <a:lstStyle/>
          <a:p>
            <a:pPr algn="l">
              <a:spcAft>
                <a:spcPts val="0"/>
              </a:spcAft>
            </a:pPr>
            <a:r>
              <a:rPr sz="4000" b="1">
                <a:solidFill>
                  <a:srgbClr val="FF8A80"/>
                </a:solidFill>
                <a:latin typeface="Calibri"/>
              </a:rPr>
              <a:t>65.0 / 65</a:t>
            </a:r>
          </a:p>
        </p:txBody>
      </p:sp>
      <p:sp>
        <p:nvSpPr>
          <p:cNvPr id="7" name="TextBox 6"/>
          <p:cNvSpPr txBox="1"/>
          <p:nvPr/>
        </p:nvSpPr>
        <p:spPr>
          <a:xfrm>
            <a:off x="1097280" y="5440680"/>
            <a:ext cx="2834640" cy="502920"/>
          </a:xfrm>
          <a:prstGeom prst="rect">
            <a:avLst/>
          </a:prstGeom>
          <a:noFill/>
        </p:spPr>
        <p:txBody>
          <a:bodyPr wrap="square" anchor="t" lIns="0" rIns="0" tIns="0" bIns="0">
            <a:spAutoFit/>
          </a:bodyPr>
          <a:lstStyle/>
          <a:p>
            <a:pPr algn="l">
              <a:spcAft>
                <a:spcPts val="0"/>
              </a:spcAft>
            </a:pPr>
            <a:r>
              <a:rPr sz="1400" b="0">
                <a:solidFill>
                  <a:srgbClr val="CADCFC"/>
                </a:solidFill>
                <a:latin typeface="Calibri"/>
              </a:rPr>
              <a:t>automatic points on the 10 dev scenes</a:t>
            </a:r>
          </a:p>
        </p:txBody>
      </p:sp>
      <p:sp>
        <p:nvSpPr>
          <p:cNvPr id="8" name="Stat 2"/>
          <p:cNvSpPr/>
          <p:nvPr/>
        </p:nvSpPr>
        <p:spPr>
          <a:xfrm>
            <a:off x="4480560" y="4572000"/>
            <a:ext cx="3383280" cy="1417320"/>
          </a:xfrm>
          <a:prstGeom prst="roundRect">
            <a:avLst>
              <a:gd name="adj" fmla="val 8000"/>
            </a:avLst>
          </a:prstGeom>
          <a:solidFill>
            <a:srgbClr val="1E2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4709160"/>
            <a:ext cx="2834640" cy="731520"/>
          </a:xfrm>
          <a:prstGeom prst="rect">
            <a:avLst/>
          </a:prstGeom>
          <a:noFill/>
        </p:spPr>
        <p:txBody>
          <a:bodyPr wrap="square" anchor="t" lIns="0" rIns="0" tIns="0" bIns="0">
            <a:spAutoFit/>
          </a:bodyPr>
          <a:lstStyle/>
          <a:p>
            <a:pPr algn="l">
              <a:spcAft>
                <a:spcPts val="0"/>
              </a:spcAft>
            </a:pPr>
            <a:r>
              <a:rPr sz="4000" b="1">
                <a:solidFill>
                  <a:srgbClr val="FFFFFF"/>
                </a:solidFill>
                <a:latin typeface="Calibri"/>
              </a:rPr>
              <a:t>40</a:t>
            </a:r>
          </a:p>
        </p:txBody>
      </p:sp>
      <p:sp>
        <p:nvSpPr>
          <p:cNvPr id="10" name="TextBox 9"/>
          <p:cNvSpPr txBox="1"/>
          <p:nvPr/>
        </p:nvSpPr>
        <p:spPr>
          <a:xfrm>
            <a:off x="4754880" y="5440680"/>
            <a:ext cx="2834640" cy="502920"/>
          </a:xfrm>
          <a:prstGeom prst="rect">
            <a:avLst/>
          </a:prstGeom>
          <a:noFill/>
        </p:spPr>
        <p:txBody>
          <a:bodyPr wrap="square" anchor="t" lIns="0" rIns="0" tIns="0" bIns="0">
            <a:spAutoFit/>
          </a:bodyPr>
          <a:lstStyle/>
          <a:p>
            <a:pPr algn="l">
              <a:spcAft>
                <a:spcPts val="0"/>
              </a:spcAft>
            </a:pPr>
            <a:r>
              <a:rPr sz="1400" b="0">
                <a:solidFill>
                  <a:srgbClr val="CADCFC"/>
                </a:solidFill>
                <a:latin typeface="Calibri"/>
              </a:rPr>
              <a:t>held-out instructions answered; scored by the organisers</a:t>
            </a:r>
          </a:p>
        </p:txBody>
      </p:sp>
      <p:sp>
        <p:nvSpPr>
          <p:cNvPr id="11" name="Stat 3"/>
          <p:cNvSpPr/>
          <p:nvPr/>
        </p:nvSpPr>
        <p:spPr>
          <a:xfrm>
            <a:off x="8138160" y="4572000"/>
            <a:ext cx="3383280" cy="1417320"/>
          </a:xfrm>
          <a:prstGeom prst="roundRect">
            <a:avLst>
              <a:gd name="adj" fmla="val 8000"/>
            </a:avLst>
          </a:prstGeom>
          <a:solidFill>
            <a:srgbClr val="1E2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4709160"/>
            <a:ext cx="2834640" cy="731520"/>
          </a:xfrm>
          <a:prstGeom prst="rect">
            <a:avLst/>
          </a:prstGeom>
          <a:noFill/>
        </p:spPr>
        <p:txBody>
          <a:bodyPr wrap="square" anchor="t" lIns="0" rIns="0" tIns="0" bIns="0">
            <a:spAutoFit/>
          </a:bodyPr>
          <a:lstStyle/>
          <a:p>
            <a:pPr algn="l">
              <a:spcAft>
                <a:spcPts val="0"/>
              </a:spcAft>
            </a:pPr>
            <a:r>
              <a:rPr sz="4000" b="1">
                <a:solidFill>
                  <a:srgbClr val="FFFFFF"/>
                </a:solidFill>
                <a:latin typeface="Calibri"/>
              </a:rPr>
              <a:t>0</a:t>
            </a:r>
          </a:p>
        </p:txBody>
      </p:sp>
      <p:sp>
        <p:nvSpPr>
          <p:cNvPr id="13" name="TextBox 12"/>
          <p:cNvSpPr txBox="1"/>
          <p:nvPr/>
        </p:nvSpPr>
        <p:spPr>
          <a:xfrm>
            <a:off x="8412480" y="5440680"/>
            <a:ext cx="2834640" cy="502920"/>
          </a:xfrm>
          <a:prstGeom prst="rect">
            <a:avLst/>
          </a:prstGeom>
          <a:noFill/>
        </p:spPr>
        <p:txBody>
          <a:bodyPr wrap="square" anchor="t" lIns="0" rIns="0" tIns="0" bIns="0">
            <a:spAutoFit/>
          </a:bodyPr>
          <a:lstStyle/>
          <a:p>
            <a:pPr algn="l">
              <a:spcAft>
                <a:spcPts val="0"/>
              </a:spcAft>
            </a:pPr>
            <a:r>
              <a:rPr sz="1400" b="0">
                <a:solidFill>
                  <a:srgbClr val="CADCFC"/>
                </a:solidFill>
                <a:latin typeface="Calibri"/>
              </a:rPr>
              <a:t>external APIs or proprietary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411480"/>
            <a:ext cx="10881360" cy="822960"/>
          </a:xfrm>
          <a:prstGeom prst="rect">
            <a:avLst/>
          </a:prstGeom>
          <a:noFill/>
        </p:spPr>
        <p:txBody>
          <a:bodyPr wrap="square" anchor="ctr" lIns="0" rIns="0" tIns="0" bIns="0">
            <a:spAutoFit/>
          </a:bodyPr>
          <a:lstStyle/>
          <a:p>
            <a:pPr algn="l">
              <a:spcAft>
                <a:spcPts val="0"/>
              </a:spcAft>
            </a:pPr>
            <a:r>
              <a:rPr sz="3800" b="1">
                <a:solidFill>
                  <a:srgbClr val="1F2933"/>
                </a:solidFill>
                <a:latin typeface="Calibri"/>
              </a:rPr>
              <a:t>Pipeline: who does what</a:t>
            </a:r>
          </a:p>
        </p:txBody>
      </p:sp>
      <p:sp>
        <p:nvSpPr>
          <p:cNvPr id="3" name="Photo"/>
          <p:cNvSpPr/>
          <p:nvPr/>
        </p:nvSpPr>
        <p:spPr>
          <a:xfrm>
            <a:off x="640080" y="1600200"/>
            <a:ext cx="1371600" cy="105156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14213D"/>
                </a:solidFill>
                <a:latin typeface="Calibri"/>
              </a:rPr>
              <a:t>Photo</a:t>
            </a:r>
          </a:p>
          <a:p>
            <a:pPr algn="ctr">
              <a:spcAft>
                <a:spcPts val="0"/>
              </a:spcAft>
            </a:pPr>
            <a:r>
              <a:rPr sz="1200" b="0">
                <a:solidFill>
                  <a:srgbClr val="14213D"/>
                </a:solidFill>
                <a:latin typeface="Calibri"/>
              </a:rPr>
              <a:t>rgb.png</a:t>
            </a:r>
          </a:p>
        </p:txBody>
      </p:sp>
      <p:sp>
        <p:nvSpPr>
          <p:cNvPr id="4" name="Grounding DINO"/>
          <p:cNvSpPr/>
          <p:nvPr/>
        </p:nvSpPr>
        <p:spPr>
          <a:xfrm>
            <a:off x="2340864" y="1600200"/>
            <a:ext cx="1828800" cy="1051560"/>
          </a:xfrm>
          <a:prstGeom prst="roundRect">
            <a:avLst>
              <a:gd name="adj" fmla="val 8000"/>
            </a:avLst>
          </a:prstGeom>
          <a:solidFill>
            <a:srgbClr val="3A50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FFFFFF"/>
                </a:solidFill>
                <a:latin typeface="Calibri"/>
              </a:rPr>
              <a:t>Grounding DINO</a:t>
            </a:r>
          </a:p>
          <a:p>
            <a:pPr algn="ctr">
              <a:spcAft>
                <a:spcPts val="0"/>
              </a:spcAft>
            </a:pPr>
            <a:r>
              <a:rPr sz="1200" b="0">
                <a:solidFill>
                  <a:srgbClr val="FFFFFF"/>
                </a:solidFill>
                <a:latin typeface="Calibri"/>
              </a:rPr>
              <a:t>boxes</a:t>
            </a:r>
          </a:p>
        </p:txBody>
      </p:sp>
      <p:sp>
        <p:nvSpPr>
          <p:cNvPr id="5" name="CLIP"/>
          <p:cNvSpPr/>
          <p:nvPr/>
        </p:nvSpPr>
        <p:spPr>
          <a:xfrm>
            <a:off x="4498848" y="1600200"/>
            <a:ext cx="1828800" cy="1051560"/>
          </a:xfrm>
          <a:prstGeom prst="roundRect">
            <a:avLst>
              <a:gd name="adj" fmla="val 8000"/>
            </a:avLst>
          </a:prstGeom>
          <a:solidFill>
            <a:srgbClr val="3A50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FFFFFF"/>
                </a:solidFill>
                <a:latin typeface="Calibri"/>
              </a:rPr>
              <a:t>CLIP</a:t>
            </a:r>
          </a:p>
          <a:p>
            <a:pPr algn="ctr">
              <a:spcAft>
                <a:spcPts val="0"/>
              </a:spcAft>
            </a:pPr>
            <a:r>
              <a:rPr sz="1200" b="0">
                <a:solidFill>
                  <a:srgbClr val="FFFFFF"/>
                </a:solidFill>
                <a:latin typeface="Calibri"/>
              </a:rPr>
              <a:t>names (gear, cube …)</a:t>
            </a:r>
          </a:p>
        </p:txBody>
      </p:sp>
      <p:sp>
        <p:nvSpPr>
          <p:cNvPr id="6" name="OpenCV"/>
          <p:cNvSpPr/>
          <p:nvPr/>
        </p:nvSpPr>
        <p:spPr>
          <a:xfrm>
            <a:off x="6656832" y="1600200"/>
            <a:ext cx="2194560" cy="1051560"/>
          </a:xfrm>
          <a:prstGeom prst="roundRect">
            <a:avLst>
              <a:gd name="adj" fmla="val 8000"/>
            </a:avLst>
          </a:prstGeom>
          <a:solidFill>
            <a:srgbClr val="3A50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FFFFFF"/>
                </a:solidFill>
                <a:latin typeface="Calibri"/>
              </a:rPr>
              <a:t>OpenCV</a:t>
            </a:r>
          </a:p>
          <a:p>
            <a:pPr algn="ctr">
              <a:spcAft>
                <a:spcPts val="0"/>
              </a:spcAft>
            </a:pPr>
            <a:r>
              <a:rPr sz="1200" b="0">
                <a:solidFill>
                  <a:srgbClr val="FFFFFF"/>
                </a:solidFill>
                <a:latin typeface="Calibri"/>
              </a:rPr>
              <a:t>colour, pixel, what lies on what</a:t>
            </a:r>
          </a:p>
        </p:txBody>
      </p:sp>
      <p:sp>
        <p:nvSpPr>
          <p:cNvPr id="7" name="Scene graph"/>
          <p:cNvSpPr/>
          <p:nvPr/>
        </p:nvSpPr>
        <p:spPr>
          <a:xfrm>
            <a:off x="9180576" y="1600200"/>
            <a:ext cx="2377440" cy="105156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14213D"/>
                </a:solidFill>
                <a:latin typeface="Calibri"/>
              </a:rPr>
              <a:t>Scene graph</a:t>
            </a:r>
          </a:p>
          <a:p>
            <a:pPr algn="ctr">
              <a:spcAft>
                <a:spcPts val="0"/>
              </a:spcAft>
            </a:pPr>
            <a:r>
              <a:rPr sz="1200" b="0">
                <a:solidFill>
                  <a:srgbClr val="14213D"/>
                </a:solidFill>
                <a:latin typeface="Calibri"/>
              </a:rPr>
              <a:t>objects with pixels</a:t>
            </a:r>
          </a:p>
        </p:txBody>
      </p:sp>
      <p:cxnSp>
        <p:nvCxnSpPr>
          <p:cNvPr id="8" name="Connector 7"/>
          <p:cNvCxnSpPr/>
          <p:nvPr/>
        </p:nvCxnSpPr>
        <p:spPr>
          <a:xfrm>
            <a:off x="2011680" y="212598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169663" y="2125980"/>
            <a:ext cx="329185"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327648" y="212598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851392" y="212598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2" name="Instruction"/>
          <p:cNvSpPr/>
          <p:nvPr/>
        </p:nvSpPr>
        <p:spPr>
          <a:xfrm>
            <a:off x="640080" y="3154680"/>
            <a:ext cx="1371600" cy="123444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14213D"/>
                </a:solidFill>
                <a:latin typeface="Calibri"/>
              </a:rPr>
              <a:t>Instruction</a:t>
            </a:r>
          </a:p>
          <a:p>
            <a:pPr algn="ctr">
              <a:spcAft>
                <a:spcPts val="0"/>
              </a:spcAft>
            </a:pPr>
            <a:r>
              <a:rPr sz="1200" b="0">
                <a:solidFill>
                  <a:srgbClr val="14213D"/>
                </a:solidFill>
                <a:latin typeface="Calibri"/>
              </a:rPr>
              <a:t>one English sentence</a:t>
            </a:r>
          </a:p>
        </p:txBody>
      </p:sp>
      <p:sp>
        <p:nvSpPr>
          <p:cNvPr id="13" name="Apertus 1.5 8B"/>
          <p:cNvSpPr/>
          <p:nvPr/>
        </p:nvSpPr>
        <p:spPr>
          <a:xfrm>
            <a:off x="2340864" y="3154680"/>
            <a:ext cx="3986784" cy="1234440"/>
          </a:xfrm>
          <a:prstGeom prst="roundRect">
            <a:avLst>
              <a:gd name="adj" fmla="val 8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FFFFFF"/>
                </a:solidFill>
                <a:latin typeface="Calibri"/>
              </a:rPr>
              <a:t>Apertus 1.5 8B</a:t>
            </a:r>
          </a:p>
          <a:p>
            <a:pPr algn="ctr">
              <a:spcAft>
                <a:spcPts val="0"/>
              </a:spcAft>
            </a:pPr>
            <a:r>
              <a:rPr sz="1200" b="0">
                <a:solidFill>
                  <a:srgbClr val="FFFFFF"/>
                </a:solidFill>
                <a:latin typeface="Calibri"/>
              </a:rPr>
              <a:t>reads the sentence into JSON: motion, target, relation, destination</a:t>
            </a:r>
          </a:p>
        </p:txBody>
      </p:sp>
      <p:sp>
        <p:nvSpPr>
          <p:cNvPr id="14" name="Parsed task"/>
          <p:cNvSpPr/>
          <p:nvPr/>
        </p:nvSpPr>
        <p:spPr>
          <a:xfrm>
            <a:off x="6656832" y="3154680"/>
            <a:ext cx="2194560" cy="123444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14213D"/>
                </a:solidFill>
                <a:latin typeface="Calibri"/>
              </a:rPr>
              <a:t>Parsed task</a:t>
            </a:r>
          </a:p>
          <a:p>
            <a:pPr algn="ctr">
              <a:spcAft>
                <a:spcPts val="0"/>
              </a:spcAft>
            </a:pPr>
            <a:r>
              <a:rPr sz="1200" b="0">
                <a:solidFill>
                  <a:srgbClr val="14213D"/>
                </a:solidFill>
                <a:latin typeface="Calibri"/>
              </a:rPr>
              <a:t>checked against the words</a:t>
            </a:r>
          </a:p>
        </p:txBody>
      </p:sp>
      <p:sp>
        <p:nvSpPr>
          <p:cNvPr id="15" name="Code"/>
          <p:cNvSpPr/>
          <p:nvPr/>
        </p:nvSpPr>
        <p:spPr>
          <a:xfrm>
            <a:off x="9180576" y="3154680"/>
            <a:ext cx="2377440" cy="12344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FFFFFF"/>
                </a:solidFill>
                <a:latin typeface="Calibri"/>
              </a:rPr>
              <a:t>Code</a:t>
            </a:r>
          </a:p>
          <a:p>
            <a:pPr algn="ctr">
              <a:spcAft>
                <a:spcPts val="0"/>
              </a:spcAft>
            </a:pPr>
            <a:r>
              <a:rPr sz="1200" b="0">
                <a:solidFill>
                  <a:srgbClr val="FFFFFF"/>
                </a:solidFill>
                <a:latin typeface="Calibri"/>
              </a:rPr>
              <a:t>finds objects, orders the plan, asks or refuses</a:t>
            </a:r>
          </a:p>
        </p:txBody>
      </p:sp>
      <p:cxnSp>
        <p:nvCxnSpPr>
          <p:cNvPr id="16" name="Connector 15"/>
          <p:cNvCxnSpPr/>
          <p:nvPr/>
        </p:nvCxnSpPr>
        <p:spPr>
          <a:xfrm>
            <a:off x="2011680" y="377190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27648" y="377190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51392" y="377190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369296" y="2651760"/>
            <a:ext cx="0" cy="50292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0" name="Answer"/>
          <p:cNvSpPr/>
          <p:nvPr/>
        </p:nvSpPr>
        <p:spPr>
          <a:xfrm>
            <a:off x="9180576" y="4754880"/>
            <a:ext cx="2377440" cy="109728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14213D"/>
                </a:solidFill>
                <a:latin typeface="Calibri"/>
              </a:rPr>
              <a:t>Answer</a:t>
            </a:r>
          </a:p>
          <a:p>
            <a:pPr algn="ctr">
              <a:spcAft>
                <a:spcPts val="0"/>
              </a:spcAft>
            </a:pPr>
            <a:r>
              <a:rPr sz="1200" b="0">
                <a:solidFill>
                  <a:srgbClr val="14213D"/>
                </a:solidFill>
                <a:latin typeface="Calibri"/>
              </a:rPr>
              <a:t>pick / place · ask · refuse</a:t>
            </a:r>
          </a:p>
        </p:txBody>
      </p:sp>
      <p:cxnSp>
        <p:nvCxnSpPr>
          <p:cNvPr id="21" name="Connector 20"/>
          <p:cNvCxnSpPr/>
          <p:nvPr/>
        </p:nvCxnSpPr>
        <p:spPr>
          <a:xfrm>
            <a:off x="10369296" y="4389120"/>
            <a:ext cx="0" cy="36576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2" name="Word list"/>
          <p:cNvSpPr/>
          <p:nvPr/>
        </p:nvSpPr>
        <p:spPr>
          <a:xfrm>
            <a:off x="6656832" y="4754880"/>
            <a:ext cx="2194560" cy="109728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0"/>
              </a:spcAft>
            </a:pPr>
            <a:r>
              <a:rPr sz="1700" b="1">
                <a:solidFill>
                  <a:srgbClr val="14213D"/>
                </a:solidFill>
                <a:latin typeface="Calibri"/>
              </a:rPr>
              <a:t>Word list</a:t>
            </a:r>
          </a:p>
          <a:p>
            <a:pPr algn="ctr">
              <a:spcAft>
                <a:spcPts val="0"/>
              </a:spcAft>
            </a:pPr>
            <a:r>
              <a:rPr sz="1200" b="0">
                <a:solidFill>
                  <a:srgbClr val="14213D"/>
                </a:solidFill>
                <a:latin typeface="Calibri"/>
              </a:rPr>
              <a:t>refuses unsafe words on its own</a:t>
            </a:r>
          </a:p>
        </p:txBody>
      </p:sp>
      <p:cxnSp>
        <p:nvCxnSpPr>
          <p:cNvPr id="23" name="Connector 22"/>
          <p:cNvCxnSpPr/>
          <p:nvPr/>
        </p:nvCxnSpPr>
        <p:spPr>
          <a:xfrm>
            <a:off x="8851392" y="5303520"/>
            <a:ext cx="329184"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4" name="Key sees"/>
          <p:cNvSpPr/>
          <p:nvPr/>
        </p:nvSpPr>
        <p:spPr>
          <a:xfrm>
            <a:off x="640080" y="4937760"/>
            <a:ext cx="256032" cy="256032"/>
          </a:xfrm>
          <a:prstGeom prst="rect">
            <a:avLst/>
          </a:prstGeom>
          <a:solidFill>
            <a:srgbClr val="3A50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892040"/>
            <a:ext cx="3200400" cy="347472"/>
          </a:xfrm>
          <a:prstGeom prst="rect">
            <a:avLst/>
          </a:prstGeom>
          <a:noFill/>
        </p:spPr>
        <p:txBody>
          <a:bodyPr wrap="square" anchor="ctr" lIns="0" rIns="0" tIns="0" bIns="0">
            <a:spAutoFit/>
          </a:bodyPr>
          <a:lstStyle/>
          <a:p>
            <a:pPr algn="l">
              <a:spcAft>
                <a:spcPts val="0"/>
              </a:spcAft>
            </a:pPr>
            <a:r>
              <a:rPr sz="1400" b="0">
                <a:solidFill>
                  <a:srgbClr val="1F2933"/>
                </a:solidFill>
                <a:latin typeface="Calibri"/>
              </a:rPr>
              <a:t>sees</a:t>
            </a:r>
          </a:p>
        </p:txBody>
      </p:sp>
      <p:sp>
        <p:nvSpPr>
          <p:cNvPr id="26" name="Key reads language"/>
          <p:cNvSpPr/>
          <p:nvPr/>
        </p:nvSpPr>
        <p:spPr>
          <a:xfrm>
            <a:off x="640080" y="5321808"/>
            <a:ext cx="256032" cy="25603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276088"/>
            <a:ext cx="3200400" cy="347472"/>
          </a:xfrm>
          <a:prstGeom prst="rect">
            <a:avLst/>
          </a:prstGeom>
          <a:noFill/>
        </p:spPr>
        <p:txBody>
          <a:bodyPr wrap="square" anchor="ctr" lIns="0" rIns="0" tIns="0" bIns="0">
            <a:spAutoFit/>
          </a:bodyPr>
          <a:lstStyle/>
          <a:p>
            <a:pPr algn="l">
              <a:spcAft>
                <a:spcPts val="0"/>
              </a:spcAft>
            </a:pPr>
            <a:r>
              <a:rPr sz="1400" b="0">
                <a:solidFill>
                  <a:srgbClr val="1F2933"/>
                </a:solidFill>
                <a:latin typeface="Calibri"/>
              </a:rPr>
              <a:t>reads language</a:t>
            </a:r>
          </a:p>
        </p:txBody>
      </p:sp>
      <p:sp>
        <p:nvSpPr>
          <p:cNvPr id="28" name="Key geometry + safety"/>
          <p:cNvSpPr/>
          <p:nvPr/>
        </p:nvSpPr>
        <p:spPr>
          <a:xfrm>
            <a:off x="640080" y="5705856"/>
            <a:ext cx="256032" cy="25603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660136"/>
            <a:ext cx="3200400" cy="347472"/>
          </a:xfrm>
          <a:prstGeom prst="rect">
            <a:avLst/>
          </a:prstGeom>
          <a:noFill/>
        </p:spPr>
        <p:txBody>
          <a:bodyPr wrap="square" anchor="ctr" lIns="0" rIns="0" tIns="0" bIns="0">
            <a:spAutoFit/>
          </a:bodyPr>
          <a:lstStyle/>
          <a:p>
            <a:pPr algn="l">
              <a:spcAft>
                <a:spcPts val="0"/>
              </a:spcAft>
            </a:pPr>
            <a:r>
              <a:rPr sz="1400" b="0">
                <a:solidFill>
                  <a:srgbClr val="1F2933"/>
                </a:solidFill>
                <a:latin typeface="Calibri"/>
              </a:rPr>
              <a:t>geometry + safety</a:t>
            </a:r>
          </a:p>
        </p:txBody>
      </p:sp>
      <p:sp>
        <p:nvSpPr>
          <p:cNvPr id="30" name="TextBox 29"/>
          <p:cNvSpPr txBox="1"/>
          <p:nvPr/>
        </p:nvSpPr>
        <p:spPr>
          <a:xfrm>
            <a:off x="2340864" y="4846320"/>
            <a:ext cx="4023360" cy="914400"/>
          </a:xfrm>
          <a:prstGeom prst="rect">
            <a:avLst/>
          </a:prstGeom>
          <a:noFill/>
        </p:spPr>
        <p:txBody>
          <a:bodyPr wrap="square" anchor="t" lIns="0" rIns="0" tIns="0" bIns="0">
            <a:spAutoFit/>
          </a:bodyPr>
          <a:lstStyle/>
          <a:p>
            <a:pPr algn="l">
              <a:spcAft>
                <a:spcPts val="0"/>
              </a:spcAft>
            </a:pPr>
            <a:r>
              <a:rPr sz="1400" b="0">
                <a:solidFill>
                  <a:srgbClr val="5F6B7A"/>
                </a:solidFill>
                <a:latin typeface="Calibri"/>
              </a:rPr>
              <a:t>An 8B model is reliable at language and unreliable at geometry, so it never does geometry.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411480"/>
            <a:ext cx="10881360" cy="822960"/>
          </a:xfrm>
          <a:prstGeom prst="rect">
            <a:avLst/>
          </a:prstGeom>
          <a:noFill/>
        </p:spPr>
        <p:txBody>
          <a:bodyPr wrap="square" anchor="ctr" lIns="0" rIns="0" tIns="0" bIns="0">
            <a:spAutoFit/>
          </a:bodyPr>
          <a:lstStyle/>
          <a:p>
            <a:pPr algn="l">
              <a:spcAft>
                <a:spcPts val="0"/>
              </a:spcAft>
            </a:pPr>
            <a:r>
              <a:rPr sz="3800" b="1">
                <a:solidFill>
                  <a:srgbClr val="1F2933"/>
                </a:solidFill>
                <a:latin typeface="Calibri"/>
              </a:rPr>
              <a:t>Dev set: 65.0 of 65 automatic points</a:t>
            </a:r>
          </a:p>
        </p:txBody>
      </p:sp>
      <p:sp>
        <p:nvSpPr>
          <p:cNvPr id="3" name="Total card"/>
          <p:cNvSpPr/>
          <p:nvPr/>
        </p:nvSpPr>
        <p:spPr>
          <a:xfrm>
            <a:off x="640080" y="1508760"/>
            <a:ext cx="3931920" cy="233172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3474720" cy="1005840"/>
          </a:xfrm>
          <a:prstGeom prst="rect">
            <a:avLst/>
          </a:prstGeom>
          <a:noFill/>
        </p:spPr>
        <p:txBody>
          <a:bodyPr wrap="square" anchor="t" lIns="0" rIns="0" tIns="0" bIns="0">
            <a:spAutoFit/>
          </a:bodyPr>
          <a:lstStyle/>
          <a:p>
            <a:pPr algn="l">
              <a:spcAft>
                <a:spcPts val="0"/>
              </a:spcAft>
            </a:pPr>
            <a:r>
              <a:rPr sz="5400" b="1">
                <a:solidFill>
                  <a:srgbClr val="FFFFFF"/>
                </a:solidFill>
                <a:latin typeface="Calibri"/>
              </a:rPr>
              <a:t>65.0 / 65</a:t>
            </a:r>
          </a:p>
        </p:txBody>
      </p:sp>
      <p:sp>
        <p:nvSpPr>
          <p:cNvPr id="5" name="TextBox 4"/>
          <p:cNvSpPr txBox="1"/>
          <p:nvPr/>
        </p:nvSpPr>
        <p:spPr>
          <a:xfrm>
            <a:off x="914400" y="2788920"/>
            <a:ext cx="3383280" cy="822960"/>
          </a:xfrm>
          <a:prstGeom prst="rect">
            <a:avLst/>
          </a:prstGeom>
          <a:noFill/>
        </p:spPr>
        <p:txBody>
          <a:bodyPr wrap="square" anchor="t" lIns="0" rIns="0" tIns="0" bIns="0">
            <a:spAutoFit/>
          </a:bodyPr>
          <a:lstStyle/>
          <a:p>
            <a:pPr algn="l">
              <a:spcAft>
                <a:spcPts val="0"/>
              </a:spcAft>
            </a:pPr>
            <a:r>
              <a:rPr sz="1600" b="0">
                <a:solidFill>
                  <a:srgbClr val="CADCFC"/>
                </a:solidFill>
                <a:latin typeface="Calibri"/>
              </a:rPr>
              <a:t>automatic points, 10 scenes, 50 instructions</a:t>
            </a:r>
          </a:p>
        </p:txBody>
      </p:sp>
      <p:sp>
        <p:nvSpPr>
          <p:cNvPr id="6" name="Grounding card"/>
          <p:cNvSpPr/>
          <p:nvPr/>
        </p:nvSpPr>
        <p:spPr>
          <a:xfrm>
            <a:off x="4846320" y="1508760"/>
            <a:ext cx="3291840" cy="233172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0" y="1691640"/>
            <a:ext cx="2743200" cy="320040"/>
          </a:xfrm>
          <a:prstGeom prst="rect">
            <a:avLst/>
          </a:prstGeom>
          <a:noFill/>
        </p:spPr>
        <p:txBody>
          <a:bodyPr wrap="square" anchor="t" lIns="0" rIns="0" tIns="0" bIns="0">
            <a:spAutoFit/>
          </a:bodyPr>
          <a:lstStyle/>
          <a:p>
            <a:pPr algn="l">
              <a:spcAft>
                <a:spcPts val="0"/>
              </a:spcAft>
            </a:pPr>
            <a:r>
              <a:rPr sz="1300" b="1">
                <a:solidFill>
                  <a:srgbClr val="3A506B"/>
                </a:solidFill>
                <a:latin typeface="Calibri"/>
              </a:rPr>
              <a:t>GROUNDING</a:t>
            </a:r>
          </a:p>
        </p:txBody>
      </p:sp>
      <p:sp>
        <p:nvSpPr>
          <p:cNvPr id="8" name="TextBox 7"/>
          <p:cNvSpPr txBox="1"/>
          <p:nvPr/>
        </p:nvSpPr>
        <p:spPr>
          <a:xfrm>
            <a:off x="5120640" y="2011680"/>
            <a:ext cx="2743200" cy="822960"/>
          </a:xfrm>
          <a:prstGeom prst="rect">
            <a:avLst/>
          </a:prstGeom>
          <a:noFill/>
        </p:spPr>
        <p:txBody>
          <a:bodyPr wrap="square" anchor="t" lIns="0" rIns="0" tIns="0" bIns="0">
            <a:spAutoFit/>
          </a:bodyPr>
          <a:lstStyle/>
          <a:p>
            <a:pPr algn="l">
              <a:spcAft>
                <a:spcPts val="0"/>
              </a:spcAft>
            </a:pPr>
            <a:r>
              <a:rPr sz="4400" b="1">
                <a:solidFill>
                  <a:srgbClr val="14213D"/>
                </a:solidFill>
                <a:latin typeface="Calibri"/>
              </a:rPr>
              <a:t>35 / 35</a:t>
            </a:r>
          </a:p>
        </p:txBody>
      </p:sp>
      <p:sp>
        <p:nvSpPr>
          <p:cNvPr id="9" name="TextBox 8"/>
          <p:cNvSpPr txBox="1"/>
          <p:nvPr/>
        </p:nvSpPr>
        <p:spPr>
          <a:xfrm>
            <a:off x="5120640" y="2926080"/>
            <a:ext cx="2743200" cy="868680"/>
          </a:xfrm>
          <a:prstGeom prst="rect">
            <a:avLst/>
          </a:prstGeom>
          <a:noFill/>
        </p:spPr>
        <p:txBody>
          <a:bodyPr wrap="square" anchor="t" lIns="0" rIns="0" tIns="0" bIns="0">
            <a:spAutoFit/>
          </a:bodyPr>
          <a:lstStyle/>
          <a:p>
            <a:pPr algn="l">
              <a:spcAft>
                <a:spcPts val="0"/>
              </a:spcAft>
            </a:pPr>
            <a:r>
              <a:rPr sz="1400" b="0">
                <a:solidFill>
                  <a:srgbClr val="1F2933"/>
                </a:solidFill>
                <a:latin typeface="Calibri"/>
              </a:rPr>
              <a:t>target pixel on the right object: 40 of 40</a:t>
            </a:r>
          </a:p>
        </p:txBody>
      </p:sp>
      <p:sp>
        <p:nvSpPr>
          <p:cNvPr id="10" name="Safety card"/>
          <p:cNvSpPr/>
          <p:nvPr/>
        </p:nvSpPr>
        <p:spPr>
          <a:xfrm>
            <a:off x="8321040" y="1508760"/>
            <a:ext cx="3291840" cy="233172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0" y="1691640"/>
            <a:ext cx="2743200" cy="320040"/>
          </a:xfrm>
          <a:prstGeom prst="rect">
            <a:avLst/>
          </a:prstGeom>
          <a:noFill/>
        </p:spPr>
        <p:txBody>
          <a:bodyPr wrap="square" anchor="t" lIns="0" rIns="0" tIns="0" bIns="0">
            <a:spAutoFit/>
          </a:bodyPr>
          <a:lstStyle/>
          <a:p>
            <a:pPr algn="l">
              <a:spcAft>
                <a:spcPts val="0"/>
              </a:spcAft>
            </a:pPr>
            <a:r>
              <a:rPr sz="1300" b="1">
                <a:solidFill>
                  <a:srgbClr val="3A506B"/>
                </a:solidFill>
                <a:latin typeface="Calibri"/>
              </a:rPr>
              <a:t>SAFETY</a:t>
            </a:r>
          </a:p>
        </p:txBody>
      </p:sp>
      <p:sp>
        <p:nvSpPr>
          <p:cNvPr id="12" name="TextBox 11"/>
          <p:cNvSpPr txBox="1"/>
          <p:nvPr/>
        </p:nvSpPr>
        <p:spPr>
          <a:xfrm>
            <a:off x="8595360" y="2011680"/>
            <a:ext cx="2743200" cy="822960"/>
          </a:xfrm>
          <a:prstGeom prst="rect">
            <a:avLst/>
          </a:prstGeom>
          <a:noFill/>
        </p:spPr>
        <p:txBody>
          <a:bodyPr wrap="square" anchor="t" lIns="0" rIns="0" tIns="0" bIns="0">
            <a:spAutoFit/>
          </a:bodyPr>
          <a:lstStyle/>
          <a:p>
            <a:pPr algn="l">
              <a:spcAft>
                <a:spcPts val="0"/>
              </a:spcAft>
            </a:pPr>
            <a:r>
              <a:rPr sz="4400" b="1">
                <a:solidFill>
                  <a:srgbClr val="14213D"/>
                </a:solidFill>
                <a:latin typeface="Calibri"/>
              </a:rPr>
              <a:t>30 / 30</a:t>
            </a:r>
          </a:p>
        </p:txBody>
      </p:sp>
      <p:sp>
        <p:nvSpPr>
          <p:cNvPr id="13" name="TextBox 12"/>
          <p:cNvSpPr txBox="1"/>
          <p:nvPr/>
        </p:nvSpPr>
        <p:spPr>
          <a:xfrm>
            <a:off x="8595360" y="2926080"/>
            <a:ext cx="2743200" cy="868680"/>
          </a:xfrm>
          <a:prstGeom prst="rect">
            <a:avLst/>
          </a:prstGeom>
          <a:noFill/>
        </p:spPr>
        <p:txBody>
          <a:bodyPr wrap="square" anchor="t" lIns="0" rIns="0" tIns="0" bIns="0">
            <a:spAutoFit/>
          </a:bodyPr>
          <a:lstStyle/>
          <a:p>
            <a:pPr algn="l">
              <a:spcAft>
                <a:spcPts val="0"/>
              </a:spcAft>
            </a:pPr>
            <a:r>
              <a:rPr sz="1400" b="0">
                <a:solidFill>
                  <a:srgbClr val="1F2933"/>
                </a:solidFill>
                <a:latin typeface="Calibri"/>
              </a:rPr>
              <a:t>asked or refused correctly: 10 of 10; plans refused by mistake: 0 of 40</a:t>
            </a:r>
          </a:p>
        </p:txBody>
      </p:sp>
      <p:sp>
        <p:nvSpPr>
          <p:cNvPr id="14" name="TextBox 13"/>
          <p:cNvSpPr txBox="1"/>
          <p:nvPr/>
        </p:nvSpPr>
        <p:spPr>
          <a:xfrm>
            <a:off x="640080" y="4160520"/>
            <a:ext cx="5486400" cy="320040"/>
          </a:xfrm>
          <a:prstGeom prst="rect">
            <a:avLst/>
          </a:prstGeom>
          <a:noFill/>
        </p:spPr>
        <p:txBody>
          <a:bodyPr wrap="square" anchor="t" lIns="0" rIns="0" tIns="0" bIns="0">
            <a:spAutoFit/>
          </a:bodyPr>
          <a:lstStyle/>
          <a:p>
            <a:pPr algn="l">
              <a:spcAft>
                <a:spcPts val="0"/>
              </a:spcAft>
            </a:pPr>
            <a:r>
              <a:rPr sz="1300" b="1">
                <a:solidFill>
                  <a:srgbClr val="3A506B"/>
                </a:solidFill>
                <a:latin typeface="Calibri"/>
              </a:rPr>
              <a:t>HOW IT GOT THERE</a:t>
            </a:r>
          </a:p>
        </p:txBody>
      </p:sp>
      <p:sp>
        <p:nvSpPr>
          <p:cNvPr id="15" name="Version v1"/>
          <p:cNvSpPr/>
          <p:nvPr/>
        </p:nvSpPr>
        <p:spPr>
          <a:xfrm>
            <a:off x="640080" y="4526280"/>
            <a:ext cx="3474720" cy="1234440"/>
          </a:xfrm>
          <a:prstGeom prst="roundRect">
            <a:avLst>
              <a:gd name="adj" fmla="val 8000"/>
            </a:avLst>
          </a:prstGeom>
          <a:solidFill>
            <a:srgbClr val="FFFFFF"/>
          </a:solidFill>
          <a:ln w="12700">
            <a:solidFill>
              <a:srgbClr val="B8C4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599432"/>
            <a:ext cx="3108960" cy="502920"/>
          </a:xfrm>
          <a:prstGeom prst="rect">
            <a:avLst/>
          </a:prstGeom>
          <a:noFill/>
        </p:spPr>
        <p:txBody>
          <a:bodyPr wrap="square" anchor="t" lIns="0" rIns="0" tIns="0" bIns="0">
            <a:spAutoFit/>
          </a:bodyPr>
          <a:lstStyle/>
          <a:p>
            <a:pPr algn="l">
              <a:spcAft>
                <a:spcPts val="0"/>
              </a:spcAft>
            </a:pPr>
            <a:r>
              <a:rPr sz="1400" b="1">
                <a:solidFill>
                  <a:srgbClr val="D62828"/>
                </a:solidFill>
                <a:latin typeface="Calibri"/>
              </a:rPr>
              <a:t>v1  </a:t>
            </a:r>
            <a:r>
              <a:rPr sz="2600" b="1">
                <a:solidFill>
                  <a:srgbClr val="14213D"/>
                </a:solidFill>
                <a:latin typeface="Calibri"/>
              </a:rPr>
              <a:t>34.9</a:t>
            </a:r>
          </a:p>
        </p:txBody>
      </p:sp>
      <p:sp>
        <p:nvSpPr>
          <p:cNvPr id="17" name="TextBox 16"/>
          <p:cNvSpPr txBox="1"/>
          <p:nvPr/>
        </p:nvSpPr>
        <p:spPr>
          <a:xfrm>
            <a:off x="868680" y="5120640"/>
            <a:ext cx="3063240" cy="594360"/>
          </a:xfrm>
          <a:prstGeom prst="rect">
            <a:avLst/>
          </a:prstGeom>
          <a:noFill/>
        </p:spPr>
        <p:txBody>
          <a:bodyPr wrap="square" anchor="t" lIns="0" rIns="0" tIns="0" bIns="0">
            <a:spAutoFit/>
          </a:bodyPr>
          <a:lstStyle/>
          <a:p>
            <a:pPr algn="l">
              <a:spcAft>
                <a:spcPts val="0"/>
              </a:spcAft>
            </a:pPr>
            <a:r>
              <a:rPr sz="1200" b="0">
                <a:solidFill>
                  <a:srgbClr val="5F6B7A"/>
                </a:solidFill>
                <a:latin typeface="Calibri"/>
              </a:rPr>
              <a:t>first end-to-end pipeline</a:t>
            </a:r>
          </a:p>
        </p:txBody>
      </p:sp>
      <p:cxnSp>
        <p:nvCxnSpPr>
          <p:cNvPr id="18" name="Connector 17"/>
          <p:cNvCxnSpPr/>
          <p:nvPr/>
        </p:nvCxnSpPr>
        <p:spPr>
          <a:xfrm>
            <a:off x="4114800" y="5138928"/>
            <a:ext cx="274320"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19" name="Version v3"/>
          <p:cNvSpPr/>
          <p:nvPr/>
        </p:nvSpPr>
        <p:spPr>
          <a:xfrm>
            <a:off x="4389120" y="4526280"/>
            <a:ext cx="3474720" cy="1234440"/>
          </a:xfrm>
          <a:prstGeom prst="roundRect">
            <a:avLst>
              <a:gd name="adj" fmla="val 8000"/>
            </a:avLst>
          </a:prstGeom>
          <a:solidFill>
            <a:srgbClr val="FFFFFF"/>
          </a:solidFill>
          <a:ln w="12700">
            <a:solidFill>
              <a:srgbClr val="B8C4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4599432"/>
            <a:ext cx="3108960" cy="502920"/>
          </a:xfrm>
          <a:prstGeom prst="rect">
            <a:avLst/>
          </a:prstGeom>
          <a:noFill/>
        </p:spPr>
        <p:txBody>
          <a:bodyPr wrap="square" anchor="t" lIns="0" rIns="0" tIns="0" bIns="0">
            <a:spAutoFit/>
          </a:bodyPr>
          <a:lstStyle/>
          <a:p>
            <a:pPr algn="l">
              <a:spcAft>
                <a:spcPts val="0"/>
              </a:spcAft>
            </a:pPr>
            <a:r>
              <a:rPr sz="1400" b="1">
                <a:solidFill>
                  <a:srgbClr val="D62828"/>
                </a:solidFill>
                <a:latin typeface="Calibri"/>
              </a:rPr>
              <a:t>v3  </a:t>
            </a:r>
            <a:r>
              <a:rPr sz="2600" b="1">
                <a:solidFill>
                  <a:srgbClr val="14213D"/>
                </a:solidFill>
                <a:latin typeface="Calibri"/>
              </a:rPr>
              <a:t>60.1–61.8</a:t>
            </a:r>
          </a:p>
        </p:txBody>
      </p:sp>
      <p:sp>
        <p:nvSpPr>
          <p:cNvPr id="21" name="TextBox 20"/>
          <p:cNvSpPr txBox="1"/>
          <p:nvPr/>
        </p:nvSpPr>
        <p:spPr>
          <a:xfrm>
            <a:off x="4617720" y="5120640"/>
            <a:ext cx="3063240" cy="594360"/>
          </a:xfrm>
          <a:prstGeom prst="rect">
            <a:avLst/>
          </a:prstGeom>
          <a:noFill/>
        </p:spPr>
        <p:txBody>
          <a:bodyPr wrap="square" anchor="t" lIns="0" rIns="0" tIns="0" bIns="0">
            <a:spAutoFit/>
          </a:bodyPr>
          <a:lstStyle/>
          <a:p>
            <a:pPr algn="l">
              <a:spcAft>
                <a:spcPts val="0"/>
              </a:spcAft>
            </a:pPr>
            <a:r>
              <a:rPr sz="1200" b="0">
                <a:solidFill>
                  <a:srgbClr val="5F6B7A"/>
                </a:solidFill>
                <a:latin typeface="Calibri"/>
              </a:rPr>
              <a:t>CLIP naming, colour from pixels, geometry in code, word list</a:t>
            </a:r>
          </a:p>
        </p:txBody>
      </p:sp>
      <p:cxnSp>
        <p:nvCxnSpPr>
          <p:cNvPr id="22" name="Connector 21"/>
          <p:cNvCxnSpPr/>
          <p:nvPr/>
        </p:nvCxnSpPr>
        <p:spPr>
          <a:xfrm>
            <a:off x="7863840" y="5138928"/>
            <a:ext cx="274319" cy="0"/>
          </a:xfrm>
          <a:prstGeom prst="line">
            <a:avLst/>
          </a:prstGeom>
          <a:ln w="25400">
            <a:solidFill>
              <a:srgbClr val="5F6B7A"/>
            </a:solidFill>
            <a:tailEnd type="triangle"/>
          </a:ln>
        </p:spPr>
        <p:style>
          <a:lnRef idx="2">
            <a:schemeClr val="accent1"/>
          </a:lnRef>
          <a:fillRef idx="0">
            <a:schemeClr val="accent1"/>
          </a:fillRef>
          <a:effectRef idx="1">
            <a:schemeClr val="accent1"/>
          </a:effectRef>
          <a:fontRef idx="minor">
            <a:schemeClr val="tx1"/>
          </a:fontRef>
        </p:style>
      </p:cxnSp>
      <p:sp>
        <p:nvSpPr>
          <p:cNvPr id="23" name="Version v4"/>
          <p:cNvSpPr/>
          <p:nvPr/>
        </p:nvSpPr>
        <p:spPr>
          <a:xfrm>
            <a:off x="8138159" y="4526280"/>
            <a:ext cx="3474720" cy="1234440"/>
          </a:xfrm>
          <a:prstGeom prst="roundRect">
            <a:avLst>
              <a:gd name="adj" fmla="val 8000"/>
            </a:avLst>
          </a:prstGeom>
          <a:solidFill>
            <a:srgbClr val="FFFFFF"/>
          </a:solidFill>
          <a:ln w="12700">
            <a:solidFill>
              <a:srgbClr val="B8C4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59" y="4599432"/>
            <a:ext cx="3108960" cy="502920"/>
          </a:xfrm>
          <a:prstGeom prst="rect">
            <a:avLst/>
          </a:prstGeom>
          <a:noFill/>
        </p:spPr>
        <p:txBody>
          <a:bodyPr wrap="square" anchor="t" lIns="0" rIns="0" tIns="0" bIns="0">
            <a:spAutoFit/>
          </a:bodyPr>
          <a:lstStyle/>
          <a:p>
            <a:pPr algn="l">
              <a:spcAft>
                <a:spcPts val="0"/>
              </a:spcAft>
            </a:pPr>
            <a:r>
              <a:rPr sz="1400" b="1">
                <a:solidFill>
                  <a:srgbClr val="D62828"/>
                </a:solidFill>
                <a:latin typeface="Calibri"/>
              </a:rPr>
              <a:t>v4  </a:t>
            </a:r>
            <a:r>
              <a:rPr sz="2600" b="1">
                <a:solidFill>
                  <a:srgbClr val="14213D"/>
                </a:solidFill>
                <a:latin typeface="Calibri"/>
              </a:rPr>
              <a:t>65.0</a:t>
            </a:r>
          </a:p>
        </p:txBody>
      </p:sp>
      <p:sp>
        <p:nvSpPr>
          <p:cNvPr id="25" name="TextBox 24"/>
          <p:cNvSpPr txBox="1"/>
          <p:nvPr/>
        </p:nvSpPr>
        <p:spPr>
          <a:xfrm>
            <a:off x="8366759" y="5120640"/>
            <a:ext cx="3063240" cy="594360"/>
          </a:xfrm>
          <a:prstGeom prst="rect">
            <a:avLst/>
          </a:prstGeom>
          <a:noFill/>
        </p:spPr>
        <p:txBody>
          <a:bodyPr wrap="square" anchor="t" lIns="0" rIns="0" tIns="0" bIns="0">
            <a:spAutoFit/>
          </a:bodyPr>
          <a:lstStyle/>
          <a:p>
            <a:pPr algn="l">
              <a:spcAft>
                <a:spcPts val="0"/>
              </a:spcAft>
            </a:pPr>
            <a:r>
              <a:rPr sz="1200" b="0">
                <a:solidFill>
                  <a:srgbClr val="5F6B7A"/>
                </a:solidFill>
                <a:latin typeface="Calibri"/>
              </a:rPr>
              <a:t>code checks Apertus's parse against the sentence</a:t>
            </a:r>
          </a:p>
        </p:txBody>
      </p:sp>
      <p:sp>
        <p:nvSpPr>
          <p:cNvPr id="26" name="TextBox 25"/>
          <p:cNvSpPr txBox="1"/>
          <p:nvPr/>
        </p:nvSpPr>
        <p:spPr>
          <a:xfrm>
            <a:off x="640080" y="5989320"/>
            <a:ext cx="10881360" cy="411480"/>
          </a:xfrm>
          <a:prstGeom prst="rect">
            <a:avLst/>
          </a:prstGeom>
          <a:noFill/>
        </p:spPr>
        <p:txBody>
          <a:bodyPr wrap="square" anchor="t" lIns="0" rIns="0" tIns="0" bIns="0">
            <a:spAutoFit/>
          </a:bodyPr>
          <a:lstStyle/>
          <a:p>
            <a:pPr algn="l">
              <a:spcAft>
                <a:spcPts val="0"/>
              </a:spcAft>
            </a:pPr>
            <a:r>
              <a:rPr sz="1400" b="1">
                <a:solidFill>
                  <a:srgbClr val="1F2933"/>
                </a:solidFill>
                <a:latin typeface="Calibri"/>
              </a:rPr>
              <a:t>Dev answers are public, so 65.0 is an upper bound. The held-out scenes are the real 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40080" y="411480"/>
            <a:ext cx="10881360" cy="822960"/>
          </a:xfrm>
          <a:prstGeom prst="rect">
            <a:avLst/>
          </a:prstGeom>
          <a:noFill/>
        </p:spPr>
        <p:txBody>
          <a:bodyPr wrap="square" anchor="ctr" lIns="0" rIns="0" tIns="0" bIns="0">
            <a:spAutoFit/>
          </a:bodyPr>
          <a:lstStyle/>
          <a:p>
            <a:pPr algn="l">
              <a:spcAft>
                <a:spcPts val="0"/>
              </a:spcAft>
            </a:pPr>
            <a:r>
              <a:rPr sz="3800" b="1">
                <a:solidFill>
                  <a:srgbClr val="1F2933"/>
                </a:solidFill>
                <a:latin typeface="Calibri"/>
              </a:rPr>
              <a:t>Where Apertus struggled: geometry and parsing</a:t>
            </a:r>
          </a:p>
        </p:txBody>
      </p:sp>
      <p:graphicFrame>
        <p:nvGraphicFramePr>
          <p:cNvPr id="3" name="Geometry experiment chart"/>
          <p:cNvGraphicFramePr>
            <a:graphicFrameLocks noGrp="1"/>
          </p:cNvGraphicFramePr>
          <p:nvPr/>
        </p:nvGraphicFramePr>
        <p:xfrm>
          <a:off x="548640" y="1463040"/>
          <a:ext cx="6126480" cy="4297680"/>
        </p:xfrm>
        <a:graphic>
          <a:graphicData uri="http://schemas.openxmlformats.org/drawingml/2006/chart">
            <c:chart xmlns:c="http://schemas.openxmlformats.org/drawingml/2006/chart" r:id="rId2"/>
          </a:graphicData>
        </a:graphic>
      </p:graphicFrame>
      <p:sp>
        <p:nvSpPr>
          <p:cNvPr id="4" name="Difficulty 1"/>
          <p:cNvSpPr/>
          <p:nvPr/>
        </p:nvSpPr>
        <p:spPr>
          <a:xfrm>
            <a:off x="6995160" y="1508760"/>
            <a:ext cx="4572000" cy="132588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0" y="1618488"/>
            <a:ext cx="4206240" cy="365760"/>
          </a:xfrm>
          <a:prstGeom prst="rect">
            <a:avLst/>
          </a:prstGeom>
          <a:noFill/>
        </p:spPr>
        <p:txBody>
          <a:bodyPr wrap="square" anchor="t" lIns="0" rIns="0" tIns="0" bIns="0">
            <a:spAutoFit/>
          </a:bodyPr>
          <a:lstStyle/>
          <a:p>
            <a:pPr algn="l">
              <a:spcAft>
                <a:spcPts val="0"/>
              </a:spcAft>
            </a:pPr>
            <a:r>
              <a:rPr sz="1700" b="1">
                <a:solidFill>
                  <a:srgbClr val="14213D"/>
                </a:solidFill>
                <a:latin typeface="Calibri"/>
              </a:rPr>
              <a:t>Geometry: 13 to 18 of 24</a:t>
            </a:r>
          </a:p>
        </p:txBody>
      </p:sp>
      <p:sp>
        <p:nvSpPr>
          <p:cNvPr id="6" name="TextBox 5"/>
          <p:cNvSpPr txBox="1"/>
          <p:nvPr/>
        </p:nvSpPr>
        <p:spPr>
          <a:xfrm>
            <a:off x="7223760" y="1984248"/>
            <a:ext cx="4160520" cy="822960"/>
          </a:xfrm>
          <a:prstGeom prst="rect">
            <a:avLst/>
          </a:prstGeom>
          <a:noFill/>
        </p:spPr>
        <p:txBody>
          <a:bodyPr wrap="square" anchor="t" lIns="0" rIns="0" tIns="0" bIns="0">
            <a:spAutoFit/>
          </a:bodyPr>
          <a:lstStyle/>
          <a:p>
            <a:pPr algn="l">
              <a:spcAft>
                <a:spcPts val="0"/>
              </a:spcAft>
            </a:pPr>
            <a:r>
              <a:rPr sz="1400" b="0">
                <a:solidFill>
                  <a:srgbClr val="1F2933"/>
                </a:solidFill>
                <a:latin typeface="Calibri"/>
              </a:rPr>
              <a:t>Examples do not help. Voting is worse: the samples agree on the same wrong answer.</a:t>
            </a:r>
          </a:p>
        </p:txBody>
      </p:sp>
      <p:sp>
        <p:nvSpPr>
          <p:cNvPr id="7" name="Difficulty 2"/>
          <p:cNvSpPr/>
          <p:nvPr/>
        </p:nvSpPr>
        <p:spPr>
          <a:xfrm>
            <a:off x="6995160" y="2971800"/>
            <a:ext cx="4572000" cy="132588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3081528"/>
            <a:ext cx="4206240" cy="365760"/>
          </a:xfrm>
          <a:prstGeom prst="rect">
            <a:avLst/>
          </a:prstGeom>
          <a:noFill/>
        </p:spPr>
        <p:txBody>
          <a:bodyPr wrap="square" anchor="t" lIns="0" rIns="0" tIns="0" bIns="0">
            <a:spAutoFit/>
          </a:bodyPr>
          <a:lstStyle/>
          <a:p>
            <a:pPr algn="l">
              <a:spcAft>
                <a:spcPts val="0"/>
              </a:spcAft>
            </a:pPr>
            <a:r>
              <a:rPr sz="1700" b="1">
                <a:solidFill>
                  <a:srgbClr val="14213D"/>
                </a:solidFill>
                <a:latin typeface="Calibri"/>
              </a:rPr>
              <a:t>Parsing: invents fields</a:t>
            </a:r>
          </a:p>
        </p:txBody>
      </p:sp>
      <p:sp>
        <p:nvSpPr>
          <p:cNvPr id="9" name="TextBox 8"/>
          <p:cNvSpPr txBox="1"/>
          <p:nvPr/>
        </p:nvSpPr>
        <p:spPr>
          <a:xfrm>
            <a:off x="7223760" y="3447288"/>
            <a:ext cx="4160520" cy="822960"/>
          </a:xfrm>
          <a:prstGeom prst="rect">
            <a:avLst/>
          </a:prstGeom>
          <a:noFill/>
        </p:spPr>
        <p:txBody>
          <a:bodyPr wrap="square" anchor="t" lIns="0" rIns="0" tIns="0" bIns="0">
            <a:spAutoFit/>
          </a:bodyPr>
          <a:lstStyle/>
          <a:p>
            <a:pPr algn="l">
              <a:spcAft>
                <a:spcPts val="0"/>
              </a:spcAft>
            </a:pPr>
            <a:r>
              <a:rPr sz="1400" b="0">
                <a:solidFill>
                  <a:srgbClr val="1F2933"/>
                </a:solidFill>
                <a:latin typeface="Calibri"/>
              </a:rPr>
              <a:t>Adds a tray to a pick-up, or a colour to the wrong noun. Code checks every field against the sentence.</a:t>
            </a:r>
          </a:p>
        </p:txBody>
      </p:sp>
      <p:sp>
        <p:nvSpPr>
          <p:cNvPr id="10" name="Difficulty 3"/>
          <p:cNvSpPr/>
          <p:nvPr/>
        </p:nvSpPr>
        <p:spPr>
          <a:xfrm>
            <a:off x="6995160" y="4434840"/>
            <a:ext cx="4572000" cy="1325880"/>
          </a:xfrm>
          <a:prstGeom prst="roundRect">
            <a:avLst>
              <a:gd name="adj" fmla="val 8000"/>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0" y="4544568"/>
            <a:ext cx="4206240" cy="365760"/>
          </a:xfrm>
          <a:prstGeom prst="rect">
            <a:avLst/>
          </a:prstGeom>
          <a:noFill/>
        </p:spPr>
        <p:txBody>
          <a:bodyPr wrap="square" anchor="t" lIns="0" rIns="0" tIns="0" bIns="0">
            <a:spAutoFit/>
          </a:bodyPr>
          <a:lstStyle/>
          <a:p>
            <a:pPr algn="l">
              <a:spcAft>
                <a:spcPts val="0"/>
              </a:spcAft>
            </a:pPr>
            <a:r>
              <a:rPr sz="1700" b="1">
                <a:solidFill>
                  <a:srgbClr val="14213D"/>
                </a:solidFill>
                <a:latin typeface="Calibri"/>
              </a:rPr>
              <a:t>Held-out: 5 of 40 answers wrong</a:t>
            </a:r>
          </a:p>
        </p:txBody>
      </p:sp>
      <p:sp>
        <p:nvSpPr>
          <p:cNvPr id="12" name="TextBox 11"/>
          <p:cNvSpPr txBox="1"/>
          <p:nvPr/>
        </p:nvSpPr>
        <p:spPr>
          <a:xfrm>
            <a:off x="7223760" y="4910327"/>
            <a:ext cx="4160520" cy="822960"/>
          </a:xfrm>
          <a:prstGeom prst="rect">
            <a:avLst/>
          </a:prstGeom>
          <a:noFill/>
        </p:spPr>
        <p:txBody>
          <a:bodyPr wrap="square" anchor="t" lIns="0" rIns="0" tIns="0" bIns="0">
            <a:spAutoFit/>
          </a:bodyPr>
          <a:lstStyle/>
          <a:p>
            <a:pPr algn="l">
              <a:spcAft>
                <a:spcPts val="0"/>
              </a:spcAft>
            </a:pPr>
            <a:r>
              <a:rPr sz="1400" b="0">
                <a:solidFill>
                  <a:srgbClr val="1F2933"/>
                </a:solidFill>
                <a:latin typeface="Calibri"/>
              </a:rPr>
              <a:t>“top red gear” refused, “the two red gears” and “not red” asked. All parse errors, fixed with general rules.</a:t>
            </a:r>
          </a:p>
        </p:txBody>
      </p:sp>
      <p:sp>
        <p:nvSpPr>
          <p:cNvPr id="13" name="TextBox 12"/>
          <p:cNvSpPr txBox="1"/>
          <p:nvPr/>
        </p:nvSpPr>
        <p:spPr>
          <a:xfrm>
            <a:off x="640080" y="5943600"/>
            <a:ext cx="7315200" cy="365760"/>
          </a:xfrm>
          <a:prstGeom prst="rect">
            <a:avLst/>
          </a:prstGeom>
          <a:noFill/>
        </p:spPr>
        <p:txBody>
          <a:bodyPr wrap="square" anchor="t" lIns="0" rIns="0" tIns="0" bIns="0">
            <a:spAutoFit/>
          </a:bodyPr>
          <a:lstStyle/>
          <a:p>
            <a:pPr algn="l">
              <a:spcAft>
                <a:spcPts val="0"/>
              </a:spcAft>
            </a:pPr>
            <a:r>
              <a:rPr sz="1200" b="0">
                <a:solidFill>
                  <a:srgbClr val="5F6B7A"/>
                </a:solidFill>
                <a:latin typeface="Calibri"/>
              </a:rPr>
              <a:t>Same 24 relative and multistep dev instructions, same scene graphs.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p:cNvSpPr txBox="1"/>
          <p:nvPr/>
        </p:nvSpPr>
        <p:spPr>
          <a:xfrm>
            <a:off x="640080" y="411480"/>
            <a:ext cx="10881360" cy="822960"/>
          </a:xfrm>
          <a:prstGeom prst="rect">
            <a:avLst/>
          </a:prstGeom>
          <a:noFill/>
        </p:spPr>
        <p:txBody>
          <a:bodyPr wrap="square" anchor="ctr" lIns="0" rIns="0" tIns="0" bIns="0">
            <a:spAutoFit/>
          </a:bodyPr>
          <a:lstStyle/>
          <a:p>
            <a:pPr algn="l">
              <a:spcAft>
                <a:spcPts val="0"/>
              </a:spcAft>
            </a:pPr>
            <a:r>
              <a:rPr sz="3800" b="1">
                <a:solidFill>
                  <a:srgbClr val="FFFFFF"/>
                </a:solidFill>
                <a:latin typeface="Calibri"/>
              </a:rPr>
              <a:t>Lessons learned and next steps</a:t>
            </a:r>
          </a:p>
        </p:txBody>
      </p:sp>
      <p:sp>
        <p:nvSpPr>
          <p:cNvPr id="3" name="Lessons panel"/>
          <p:cNvSpPr/>
          <p:nvPr/>
        </p:nvSpPr>
        <p:spPr>
          <a:xfrm>
            <a:off x="640080" y="1554480"/>
            <a:ext cx="5440680" cy="4526280"/>
          </a:xfrm>
          <a:prstGeom prst="roundRect">
            <a:avLst>
              <a:gd name="adj" fmla="val 8000"/>
            </a:avLst>
          </a:prstGeom>
          <a:solidFill>
            <a:srgbClr val="1E2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83080"/>
            <a:ext cx="4572000" cy="365760"/>
          </a:xfrm>
          <a:prstGeom prst="rect">
            <a:avLst/>
          </a:prstGeom>
          <a:noFill/>
        </p:spPr>
        <p:txBody>
          <a:bodyPr wrap="square" anchor="t" lIns="0" rIns="0" tIns="0" bIns="0">
            <a:spAutoFit/>
          </a:bodyPr>
          <a:lstStyle/>
          <a:p>
            <a:pPr algn="l">
              <a:spcAft>
                <a:spcPts val="0"/>
              </a:spcAft>
            </a:pPr>
            <a:r>
              <a:rPr sz="1400" b="1">
                <a:solidFill>
                  <a:srgbClr val="FF8A80"/>
                </a:solidFill>
                <a:latin typeface="Calibri"/>
              </a:rPr>
              <a:t>LESSONS</a:t>
            </a:r>
          </a:p>
        </p:txBody>
      </p:sp>
      <p:sp>
        <p:nvSpPr>
          <p:cNvPr id="5" name="TextBox 4"/>
          <p:cNvSpPr txBox="1"/>
          <p:nvPr/>
        </p:nvSpPr>
        <p:spPr>
          <a:xfrm>
            <a:off x="1005840" y="2331720"/>
            <a:ext cx="4754880" cy="3566160"/>
          </a:xfrm>
          <a:prstGeom prst="rect">
            <a:avLst/>
          </a:prstGeom>
          <a:noFill/>
        </p:spPr>
        <p:txBody>
          <a:bodyPr wrap="square" anchor="t" lIns="0" rIns="0" tIns="0" bIns="0">
            <a:spAutoFit/>
          </a:bodyPr>
          <a:lstStyle/>
          <a:p>
            <a:pPr algn="l">
              <a:spcAft>
                <a:spcPts val="1400"/>
              </a:spcAft>
            </a:pPr>
            <a:r>
              <a:rPr sz="1900" b="1">
                <a:solidFill>
                  <a:srgbClr val="FFFFFF"/>
                </a:solidFill>
                <a:latin typeface="Calibri"/>
              </a:rPr>
              <a:t>Split by strength.</a:t>
            </a:r>
            <a:r>
              <a:rPr sz="1900" b="0">
                <a:solidFill>
                  <a:srgbClr val="CADCFC"/>
                </a:solidFill>
                <a:latin typeface="Calibri"/>
              </a:rPr>
              <a:t> An 8B model parses language well; geometry belongs in code.</a:t>
            </a:r>
          </a:p>
          <a:p>
            <a:pPr algn="l">
              <a:spcAft>
                <a:spcPts val="1400"/>
              </a:spcAft>
            </a:pPr>
            <a:r>
              <a:rPr sz="1900" b="1">
                <a:solidFill>
                  <a:srgbClr val="FFFFFF"/>
                </a:solidFill>
                <a:latin typeface="Calibri"/>
              </a:rPr>
              <a:t>Verify the model.</a:t>
            </a:r>
            <a:r>
              <a:rPr sz="1900" b="0">
                <a:solidFill>
                  <a:srgbClr val="CADCFC"/>
                </a:solidFill>
                <a:latin typeface="Calibri"/>
              </a:rPr>
              <a:t> Check every parsed field against the sentence, and keep a second safety net.</a:t>
            </a:r>
          </a:p>
          <a:p>
            <a:pPr algn="l">
              <a:spcAft>
                <a:spcPts val="1400"/>
              </a:spcAft>
            </a:pPr>
            <a:r>
              <a:rPr sz="1900" b="1">
                <a:solidFill>
                  <a:srgbClr val="FFFFFF"/>
                </a:solidFill>
                <a:latin typeface="Calibri"/>
              </a:rPr>
              <a:t>Test on unseen data.</a:t>
            </a:r>
            <a:r>
              <a:rPr sz="1900" b="0">
                <a:solidFill>
                  <a:srgbClr val="CADCFC"/>
                </a:solidFill>
                <a:latin typeface="Calibri"/>
              </a:rPr>
              <a:t> The held-out run exposed 5 errors that the public dev set hid.</a:t>
            </a:r>
          </a:p>
        </p:txBody>
      </p:sp>
      <p:sp>
        <p:nvSpPr>
          <p:cNvPr id="6" name="Next panel"/>
          <p:cNvSpPr/>
          <p:nvPr/>
        </p:nvSpPr>
        <p:spPr>
          <a:xfrm>
            <a:off x="6355080" y="1554480"/>
            <a:ext cx="5440680" cy="4526280"/>
          </a:xfrm>
          <a:prstGeom prst="roundRect">
            <a:avLst>
              <a:gd name="adj" fmla="val 8000"/>
            </a:avLst>
          </a:prstGeom>
          <a:solidFill>
            <a:srgbClr val="1E2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20840" y="1783080"/>
            <a:ext cx="4572000" cy="365760"/>
          </a:xfrm>
          <a:prstGeom prst="rect">
            <a:avLst/>
          </a:prstGeom>
          <a:noFill/>
        </p:spPr>
        <p:txBody>
          <a:bodyPr wrap="square" anchor="t" lIns="0" rIns="0" tIns="0" bIns="0">
            <a:spAutoFit/>
          </a:bodyPr>
          <a:lstStyle/>
          <a:p>
            <a:pPr algn="l">
              <a:spcAft>
                <a:spcPts val="0"/>
              </a:spcAft>
            </a:pPr>
            <a:r>
              <a:rPr sz="1400" b="1">
                <a:solidFill>
                  <a:srgbClr val="FF8A80"/>
                </a:solidFill>
                <a:latin typeface="Calibri"/>
              </a:rPr>
              <a:t>NEXT</a:t>
            </a:r>
          </a:p>
        </p:txBody>
      </p:sp>
      <p:sp>
        <p:nvSpPr>
          <p:cNvPr id="8" name="TextBox 7"/>
          <p:cNvSpPr txBox="1"/>
          <p:nvPr/>
        </p:nvSpPr>
        <p:spPr>
          <a:xfrm>
            <a:off x="6720840" y="2331720"/>
            <a:ext cx="4754880" cy="3566160"/>
          </a:xfrm>
          <a:prstGeom prst="rect">
            <a:avLst/>
          </a:prstGeom>
          <a:noFill/>
        </p:spPr>
        <p:txBody>
          <a:bodyPr wrap="square" anchor="t" lIns="0" rIns="0" tIns="0" bIns="0">
            <a:spAutoFit/>
          </a:bodyPr>
          <a:lstStyle/>
          <a:p>
            <a:pPr algn="l">
              <a:spcAft>
                <a:spcPts val="1400"/>
              </a:spcAft>
            </a:pPr>
            <a:r>
              <a:rPr sz="1900" b="1">
                <a:solidFill>
                  <a:srgbClr val="FFFFFF"/>
                </a:solidFill>
                <a:latin typeface="Calibri"/>
              </a:rPr>
              <a:t>Let Apertus see geometry</a:t>
            </a:r>
            <a:r>
              <a:rPr sz="1900" b="0">
                <a:solidFill>
                  <a:srgbClr val="CADCFC"/>
                </a:solidFill>
                <a:latin typeface="Calibri"/>
              </a:rPr>
              <a:t> as structured facts and check it against the code.</a:t>
            </a:r>
          </a:p>
          <a:p>
            <a:pPr algn="l">
              <a:spcAft>
                <a:spcPts val="1400"/>
              </a:spcAft>
            </a:pPr>
            <a:r>
              <a:rPr sz="1900" b="1">
                <a:solidFill>
                  <a:srgbClr val="FFFFFF"/>
                </a:solidFill>
                <a:latin typeface="Calibri"/>
              </a:rPr>
              <a:t>Fine-tune or scale up</a:t>
            </a:r>
            <a:r>
              <a:rPr sz="1900" b="0">
                <a:solidFill>
                  <a:srgbClr val="CADCFC"/>
                </a:solidFill>
                <a:latin typeface="Calibri"/>
              </a:rPr>
              <a:t> to need fewer parse rules.</a:t>
            </a:r>
          </a:p>
          <a:p>
            <a:pPr algn="l">
              <a:spcAft>
                <a:spcPts val="1400"/>
              </a:spcAft>
            </a:pPr>
            <a:r>
              <a:rPr sz="1900" b="1">
                <a:solidFill>
                  <a:srgbClr val="FFFFFF"/>
                </a:solidFill>
                <a:latin typeface="Calibri"/>
              </a:rPr>
              <a:t>Support more phrasing:</a:t>
            </a:r>
            <a:r>
              <a:rPr sz="1900" b="0">
                <a:solidFill>
                  <a:srgbClr val="CADCFC"/>
                </a:solidFill>
                <a:latin typeface="Calibri"/>
              </a:rPr>
              <a:t> “third from the left”, two conditions in one phrase, German, French and Italian.</a:t>
            </a:r>
          </a:p>
          <a:p>
            <a:pPr algn="l">
              <a:spcAft>
                <a:spcPts val="1400"/>
              </a:spcAft>
            </a:pPr>
            <a:r>
              <a:rPr sz="1900" b="1">
                <a:solidFill>
                  <a:srgbClr val="FFFFFF"/>
                </a:solidFill>
                <a:latin typeface="Calibri"/>
              </a:rPr>
              <a:t>Run on the UR5</a:t>
            </a:r>
            <a:r>
              <a:rPr sz="1900" b="0">
                <a:solidFill>
                  <a:srgbClr val="CADCFC"/>
                </a:solidFill>
                <a:latin typeface="Calibri"/>
              </a:rPr>
              <a:t> with a grasp point from the mask.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 It, Say It, Pick It: slides</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